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d3ae936e1447c1" /><Relationship Type="http://schemas.openxmlformats.org/officeDocument/2006/relationships/extended-properties" Target="/docProps/app.xml" Id="R183fbd0403ae4efe" /><Relationship Type="http://schemas.openxmlformats.org/officeDocument/2006/relationships/officeDocument" Target="/ppt/presentation.xml" Id="R444559865ab14d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4af1228154440f"/>
  </p:sldMasterIdLst>
  <p:notesMasterIdLst>
    <p:notesMasterId xmlns:r="http://schemas.openxmlformats.org/officeDocument/2006/relationships" r:id="R1259221ca27a4f75"/>
  </p:notesMasterIdLst>
  <p:sldIdLst>
    <p:sldId xmlns:r="http://schemas.openxmlformats.org/officeDocument/2006/relationships" id="256" r:id="Rb1ed0d434c764b2e"/>
    <p:sldId xmlns:r="http://schemas.openxmlformats.org/officeDocument/2006/relationships" id="257" r:id="Rb2668ae802f14bb5"/>
    <p:sldId xmlns:r="http://schemas.openxmlformats.org/officeDocument/2006/relationships" id="258" r:id="R4f57c031f9fb4ea9"/>
    <p:sldId xmlns:r="http://schemas.openxmlformats.org/officeDocument/2006/relationships" id="259" r:id="R270420891c414925"/>
    <p:sldId xmlns:r="http://schemas.openxmlformats.org/officeDocument/2006/relationships" id="260" r:id="R998fa2cff5c74914"/>
    <p:sldId xmlns:r="http://schemas.openxmlformats.org/officeDocument/2006/relationships" id="261" r:id="Rf577db5bf80a4748"/>
    <p:sldId xmlns:r="http://schemas.openxmlformats.org/officeDocument/2006/relationships" id="262" r:id="R786374686b904c04"/>
    <p:sldId xmlns:r="http://schemas.openxmlformats.org/officeDocument/2006/relationships" id="263" r:id="R237a8e4611f146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fc7a78477f4be4" /><Relationship Type="http://schemas.openxmlformats.org/officeDocument/2006/relationships/slideMaster" Target="/ppt/slideMasters/slideMaster1.xml" Id="R644af1228154440f" /><Relationship Type="http://schemas.openxmlformats.org/officeDocument/2006/relationships/notesMaster" Target="/ppt/notesMasters/notesMaster1.xml" Id="R1259221ca27a4f75" /><Relationship Type="http://schemas.openxmlformats.org/officeDocument/2006/relationships/presProps" Target="/ppt/presProps.xml" Id="Rcc547189154f4c7b" /><Relationship Type="http://schemas.openxmlformats.org/officeDocument/2006/relationships/tableStyles" Target="/ppt/tableStyles.xml" Id="R34cc56d5fe3c4343" /><Relationship Type="http://schemas.openxmlformats.org/officeDocument/2006/relationships/slide" Target="/ppt/slides/slide1.xml" Id="Rb1ed0d434c764b2e" /><Relationship Type="http://schemas.openxmlformats.org/officeDocument/2006/relationships/slide" Target="/ppt/slides/slide2.xml" Id="Rb2668ae802f14bb5" /><Relationship Type="http://schemas.openxmlformats.org/officeDocument/2006/relationships/slide" Target="/ppt/slides/slide3.xml" Id="R4f57c031f9fb4ea9" /><Relationship Type="http://schemas.openxmlformats.org/officeDocument/2006/relationships/slide" Target="/ppt/slides/slide4.xml" Id="R270420891c414925" /><Relationship Type="http://schemas.openxmlformats.org/officeDocument/2006/relationships/slide" Target="/ppt/slides/slide5.xml" Id="R998fa2cff5c74914" /><Relationship Type="http://schemas.openxmlformats.org/officeDocument/2006/relationships/slide" Target="/ppt/slides/slide6.xml" Id="Rf577db5bf80a4748" /><Relationship Type="http://schemas.openxmlformats.org/officeDocument/2006/relationships/slide" Target="/ppt/slides/slide7.xml" Id="R786374686b904c04" /><Relationship Type="http://schemas.openxmlformats.org/officeDocument/2006/relationships/slide" Target="/ppt/slides/slide8.xml" Id="R237a8e4611f1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2d67786fbd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2ab46b56034f47" /><Relationship Type="http://schemas.openxmlformats.org/officeDocument/2006/relationships/notesMaster" Target="/ppt/notesMasters/notesMaster1.xml" Id="R8cb8a712b04b49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9ed1e5057545e4" /><Relationship Type="http://schemas.openxmlformats.org/officeDocument/2006/relationships/notesMaster" Target="/ppt/notesMasters/notesMaster1.xml" Id="Rb75b46acd37d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38986bd3f457a" /><Relationship Type="http://schemas.openxmlformats.org/officeDocument/2006/relationships/notesMaster" Target="/ppt/notesMasters/notesMaster1.xml" Id="Rb5868950628645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a2f65bde104aa1" /><Relationship Type="http://schemas.openxmlformats.org/officeDocument/2006/relationships/notesMaster" Target="/ppt/notesMasters/notesMaster1.xml" Id="R2f1f894b80d44a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4eb3cf08b44207" /><Relationship Type="http://schemas.openxmlformats.org/officeDocument/2006/relationships/notesMaster" Target="/ppt/notesMasters/notesMaster1.xml" Id="Rd1fd7718b39147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27c8a68fda499c" /><Relationship Type="http://schemas.openxmlformats.org/officeDocument/2006/relationships/notesMaster" Target="/ppt/notesMasters/notesMaster1.xml" Id="Rfffd4ddce34b42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afd6d17df14cf5" /><Relationship Type="http://schemas.openxmlformats.org/officeDocument/2006/relationships/notesMaster" Target="/ppt/notesMasters/notesMaster1.xml" Id="R0dbe3704fc3d43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ba38d8085a4449" /><Relationship Type="http://schemas.openxmlformats.org/officeDocument/2006/relationships/notesMaster" Target="/ppt/notesMasters/notesMaster1.xml" Id="R7f3d4e7c17ad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임샤인은 연구개발과 제조, 브랜드를 기반으로 글로벌 K-Beauty 시장을 확장하는 기업입니다.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company profile, slides 1 and 10–26.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임샤인의 기업경쟁력은 대표자의 현장경험과 산업 네트워크에서 출발합니다.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profile, slides 2–3.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임샤인은 연구개발, 품질, OEM·ODM, 지속가능성을 하나의 사업체계로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profile,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임샤인의 제조 프로세스는 컨셉에서 납품과 수출까지 연결됩니다.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profile, slides 4 and 8–9.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인증과 특허, 인체적용시험은 임샤인 제품의 신뢰를 뒷받침합니다.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profile, slides 5 and 14–15.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세라렌 라인은 토너, 앰플, 크림으로 이어지는 민감피부 3단계 케어입니다.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profile, slides 11–16.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퍼스널퍼퓸과 느아르담은 향을 개인의 정체성과 연결하고 헤어와 바디 제품으로 확장합니다.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profile, slides 20–26.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임샤인은 INEUNA와 협력하여 아프리카, 멕시코, 미국, 아시아의 해외시장 확대를 추진합니다.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IMSHINE profile and user-provided INEUNA collaboration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5b6d0c5b346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aa34bb9c147b3" /><Relationship Type="http://schemas.openxmlformats.org/officeDocument/2006/relationships/slideLayout" Target="/ppt/slideLayouts/slideLayout1.xml" Id="R53c30f55fef8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c30f55fef8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d0857c9d84fed" /><Relationship Type="http://schemas.openxmlformats.org/officeDocument/2006/relationships/image" Target="/ppt/media/image.png" Id="R1cef583f6466462a" /><Relationship Type="http://schemas.openxmlformats.org/officeDocument/2006/relationships/image" Target="/ppt/media/image2.png" Id="Rc4cd60e9e53a4777" /><Relationship Type="http://schemas.openxmlformats.org/officeDocument/2006/relationships/notesSlide" Target="/ppt/notesSlides/notesSlide1.xml" Id="R96b48e3ec3184c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1152f96be40f6" /><Relationship Type="http://schemas.openxmlformats.org/officeDocument/2006/relationships/image" Target="/ppt/media/image.jpeg" Id="Rfb63eb028e1442e8" /><Relationship Type="http://schemas.openxmlformats.org/officeDocument/2006/relationships/image" Target="/ppt/media/image2.jpeg" Id="R24a837aa03f5411f" /><Relationship Type="http://schemas.openxmlformats.org/officeDocument/2006/relationships/image" Target="/ppt/media/image3.jpeg" Id="Ra8b1b694c0e34861" /><Relationship Type="http://schemas.openxmlformats.org/officeDocument/2006/relationships/image" Target="/ppt/media/image4.jpeg" Id="R31c100a0cf724f23" /><Relationship Type="http://schemas.openxmlformats.org/officeDocument/2006/relationships/notesSlide" Target="/ppt/notesSlides/notesSlide2.xml" Id="Rb50255cef8c04b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1486f51dd4c55" /><Relationship Type="http://schemas.openxmlformats.org/officeDocument/2006/relationships/notesSlide" Target="/ppt/notesSlides/notesSlide3.xml" Id="R87ecccb7a5fb42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c747a55f4466c" /><Relationship Type="http://schemas.openxmlformats.org/officeDocument/2006/relationships/image" Target="/ppt/media/image3.png" Id="R690ce37e314f4429" /><Relationship Type="http://schemas.openxmlformats.org/officeDocument/2006/relationships/image" Target="/ppt/media/image5.jpeg" Id="R698960b306974883" /><Relationship Type="http://schemas.openxmlformats.org/officeDocument/2006/relationships/image" Target="/ppt/media/image4.png" Id="R637e42c7e09c4024" /><Relationship Type="http://schemas.openxmlformats.org/officeDocument/2006/relationships/notesSlide" Target="/ppt/notesSlides/notesSlide4.xml" Id="R31c6e85af12b4f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364e1430742f4" /><Relationship Type="http://schemas.openxmlformats.org/officeDocument/2006/relationships/image" Target="/ppt/media/image5.png" Id="Rfbf4c37c94d244ca" /><Relationship Type="http://schemas.openxmlformats.org/officeDocument/2006/relationships/image" Target="/ppt/media/image6.png" Id="R5fad6a65277443a0" /><Relationship Type="http://schemas.openxmlformats.org/officeDocument/2006/relationships/image" Target="/ppt/media/image7.png" Id="Rcf9304f03b0e4d65" /><Relationship Type="http://schemas.openxmlformats.org/officeDocument/2006/relationships/image" Target="/ppt/media/image8.png" Id="R3b1883250f774f61" /><Relationship Type="http://schemas.openxmlformats.org/officeDocument/2006/relationships/image" Target="/ppt/media/image9.png" Id="R652a53d515764f3a" /><Relationship Type="http://schemas.openxmlformats.org/officeDocument/2006/relationships/image" Target="/ppt/media/image10.png" Id="R0b6657c1b15d4126" /><Relationship Type="http://schemas.openxmlformats.org/officeDocument/2006/relationships/notesSlide" Target="/ppt/notesSlides/notesSlide5.xml" Id="Rc3a021ed31a4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6b043e21c4469" /><Relationship Type="http://schemas.openxmlformats.org/officeDocument/2006/relationships/image" Target="/ppt/media/image11.png" Id="Rdf2420a258c64213" /><Relationship Type="http://schemas.openxmlformats.org/officeDocument/2006/relationships/image" Target="/ppt/media/image12.png" Id="Rdd9c18b59a714370" /><Relationship Type="http://schemas.openxmlformats.org/officeDocument/2006/relationships/image" Target="/ppt/media/image13.png" Id="R1ea475b076004556" /><Relationship Type="http://schemas.openxmlformats.org/officeDocument/2006/relationships/notesSlide" Target="/ppt/notesSlides/notesSlide6.xml" Id="Ra70ecd3ad54f4a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89eb282694f9b" /><Relationship Type="http://schemas.openxmlformats.org/officeDocument/2006/relationships/image" Target="/ppt/media/image14.png" Id="R62df6b018fc145a1" /><Relationship Type="http://schemas.openxmlformats.org/officeDocument/2006/relationships/image" Target="/ppt/media/image15.png" Id="R3297c690f51f4ff8" /><Relationship Type="http://schemas.openxmlformats.org/officeDocument/2006/relationships/image" Target="/ppt/media/image16.png" Id="R9889aaeb88784b91" /><Relationship Type="http://schemas.openxmlformats.org/officeDocument/2006/relationships/notesSlide" Target="/ppt/notesSlides/notesSlide7.xml" Id="R717244f348d94d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4c923fd24f2e" /><Relationship Type="http://schemas.openxmlformats.org/officeDocument/2006/relationships/image" Target="/ppt/media/image6.jpeg" Id="Reab5a1e8f43a414c" /><Relationship Type="http://schemas.openxmlformats.org/officeDocument/2006/relationships/notesSlide" Target="/ppt/notesSlides/notesSlide8.xml" Id="R2b5dc4018c7148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E87CB2B-86C6-4864-B159-099016BE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976DD6C-427D-45A1-A241-E13CB31A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F8C"/>
                </a:solidFill>
              </a:defRPr>
            </a:pPr>
            <a:r>
              <a:rPr sz="1275" b="1">
                <a:solidFill>
                  <a:srgbClr val="7D3F8C"/>
                </a:solidFill>
              </a:rPr>
              <a:t>IMSHINE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21A119F-A529-4443-A4E7-DA40F1A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2F"/>
                </a:solidFill>
              </a:defRPr>
            </a:pPr>
            <a:r>
              <a:rPr sz="4050" b="1">
                <a:solidFill>
                  <a:srgbClr val="10202F"/>
                </a:solidFill>
              </a:rPr>
              <a:t>과학으로 완성하는</a:t>
            </a:r>
          </a:p>
          <a:p xmlns:a="http://schemas.openxmlformats.org/drawingml/2006/main">
            <a:pPr algn="l">
              <a:defRPr sz="4050" b="1">
                <a:solidFill>
                  <a:srgbClr val="10202F"/>
                </a:solidFill>
              </a:defRPr>
            </a:pPr>
            <a:r>
              <a:rPr sz="4050" b="1">
                <a:solidFill>
                  <a:srgbClr val="10202F"/>
                </a:solidFill>
              </a:rPr>
              <a:t>글로벌 K-Beauty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E25416-2B9F-4D84-96F8-D5334608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8C86"/>
                </a:solidFill>
              </a:defRPr>
            </a:pPr>
            <a:r>
              <a:rPr sz="1425" b="1">
                <a:solidFill>
                  <a:srgbClr val="318C86"/>
                </a:solidFill>
              </a:rPr>
              <a:t>R&amp;D · OEM/ODM · BRAND · GLOBAL PARTNERSHIP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9720AF-ABBF-43D8-A4E7-76861F0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3F8C"/>
                </a:solidFill>
              </a:defRPr>
            </a:pPr>
            <a:r>
              <a:rPr sz="1650" b="1">
                <a:solidFill>
                  <a:srgbClr val="7D3F8C"/>
                </a:solidFill>
              </a:rPr>
              <a:t>Global Market Partner  |  INEUNA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f583f6466462a"/>
          <a:stretch xmlns:a="http://schemas.openxmlformats.org/drawingml/2006/main"/>
        </p:blipFill>
        <p:spPr>
          <a:xfrm xmlns:a="http://schemas.openxmlformats.org/drawingml/2006/main">
            <a:off x="8115011" y="1000125"/>
            <a:ext cx="2343727" cy="2286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d60e9e53a4777"/>
          <a:stretch xmlns:a="http://schemas.openxmlformats.org/drawingml/2006/main"/>
        </p:blipFill>
        <p:spPr>
          <a:xfrm xmlns:a="http://schemas.openxmlformats.org/drawingml/2006/main">
            <a:off x="8399444" y="3714750"/>
            <a:ext cx="1965362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12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2">
            <a:extLst xmlns:a="http://schemas.openxmlformats.org/drawingml/2006/main">
              <a:ext uri="{FF2B5EF4-FFF2-40B4-BE49-F238E27FC236}">
                <a16:creationId xmlns:a16="http://schemas.microsoft.com/office/drawing/2014/main" id="{618B1F55-C659-46C9-B0D6-AB012F87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02  COMPANY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D53D6FD-6178-4C20-A785-CD6913C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제품을 넘어 브랜드의 성공을 설계합니다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116566A2-E7EE-46BB-9F7E-7437F93D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2">
            <a:extLst xmlns:a="http://schemas.openxmlformats.org/drawingml/2006/main">
              <a:ext uri="{FF2B5EF4-FFF2-40B4-BE49-F238E27FC236}">
                <a16:creationId xmlns:a16="http://schemas.microsoft.com/office/drawing/2014/main" id="{929FAC55-FAB3-4A21-B64A-0BA8F5FD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IMSHINE COMPANY PROFILE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7592BFEE-12A6-4622-A583-E7E49F7A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3eb028e1442e8"/>
          <a:srcRect xmlns:a="http://schemas.openxmlformats.org/drawingml/2006/main" l="0" t="1096" r="0" b="1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2714625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label-전혜승 대표">
            <a:extLst xmlns:a="http://schemas.openxmlformats.org/drawingml/2006/main">
              <a:ext uri="{FF2B5EF4-FFF2-40B4-BE49-F238E27FC236}">
                <a16:creationId xmlns:a16="http://schemas.microsoft.com/office/drawing/2014/main" id="{24F37FCD-AD13-4C4E-AD73-4043B68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D3F8C"/>
                </a:solidFill>
              </a:defRPr>
            </a:pPr>
            <a:r>
              <a:rPr sz="1800" b="1">
                <a:solidFill>
                  <a:srgbClr val="7D3F8C"/>
                </a:solidFill>
              </a:rPr>
              <a:t>전혜승 대표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400A6A-6B90-451A-9D57-3CFC8C33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288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F"/>
                </a:solidFill>
              </a:defRPr>
            </a:pPr>
            <a:r>
              <a:rPr sz="1650" b="1">
                <a:solidFill>
                  <a:srgbClr val="10202F"/>
                </a:solidFill>
              </a:rPr>
              <a:t>화장품 제조 · 교육 · 산업 네트워크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E2C26D-9E37-46BC-8234-C1776D00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0375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F"/>
                </a:solidFill>
              </a:defRPr>
            </a:pPr>
            <a:r>
              <a:rPr sz="1500" b="0">
                <a:solidFill>
                  <a:srgbClr val="10202F"/>
                </a:solidFill>
              </a:rPr>
              <a:t>맞춤형화장품과 바이오·뷰티 산업에서 축적한 경험을</a:t>
            </a:r>
          </a:p>
          <a:p xmlns:a="http://schemas.openxmlformats.org/drawingml/2006/main">
            <a:pPr algn="l">
              <a:defRPr sz="1500" b="0">
                <a:solidFill>
                  <a:srgbClr val="10202F"/>
                </a:solidFill>
              </a:defRPr>
            </a:pPr>
            <a:r>
              <a:rPr sz="1500" b="0">
                <a:solidFill>
                  <a:srgbClr val="10202F"/>
                </a:solidFill>
              </a:rPr>
              <a:t>연구개발, 제품기획, 생산과 해외협력으로 연결합니다.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837aa03f5411f"/>
          <a:srcRect xmlns:a="http://schemas.openxmlformats.org/drawingml/2006/main" l="0" t="7386" r="0" b="7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4191000"/>
            <a:ext cx="2095500" cy="119062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1b694c0e34861"/>
          <a:srcRect xmlns:a="http://schemas.openxmlformats.org/drawingml/2006/main" l="0" t="12121" r="0" b="12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191000"/>
            <a:ext cx="2095500" cy="119062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100a0cf724f23"/>
          <a:srcRect xmlns:a="http://schemas.openxmlformats.org/drawingml/2006/main" l="500" t="0" r="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4191000"/>
            <a:ext cx="2095500" cy="1190625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18621C-F2B3-45F5-A358-57691897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619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8C86"/>
                </a:solidFill>
              </a:defRPr>
            </a:pPr>
            <a:r>
              <a:rPr sz="1425" b="1">
                <a:solidFill>
                  <a:srgbClr val="318C86"/>
                </a:solidFill>
              </a:rPr>
              <a:t>수상 · 산업활동 · 중국교류 · 미국협약 경험</a:t>
            </a:r>
          </a:p>
        </p:txBody>
      </p:sp>
    </p:spTree>
    <p:extLst>
      <p:ext uri="{BB962C8B-B14F-4D97-AF65-F5344CB8AC3E}">
        <p14:creationId xmlns:p14="http://schemas.microsoft.com/office/powerpoint/2010/main" val="1362109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3">
            <a:extLst xmlns:a="http://schemas.openxmlformats.org/drawingml/2006/main">
              <a:ext uri="{FF2B5EF4-FFF2-40B4-BE49-F238E27FC236}">
                <a16:creationId xmlns:a16="http://schemas.microsoft.com/office/drawing/2014/main" id="{A803833F-0273-4805-AD69-B9ED291D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03  VISION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C3DF865-3351-46F1-A529-2FF6E50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연구와 제조를 하나의 솔루션으로 연결합니다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C902FEDD-A3E5-4153-B825-93A0D39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3">
            <a:extLst xmlns:a="http://schemas.openxmlformats.org/drawingml/2006/main">
              <a:ext uri="{FF2B5EF4-FFF2-40B4-BE49-F238E27FC236}">
                <a16:creationId xmlns:a16="http://schemas.microsoft.com/office/drawing/2014/main" id="{10F505B8-4AC0-43A8-A6D8-EE6BB62C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IMSHINE COMPANY PROFILE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17EC3872-C511-446B-801C-67E72656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7F61DD3B-0C02-4BC2-99AC-A484689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5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E5E0FF4-DB15-4F11-B9EF-991B904D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8C86"/>
                </a:solidFill>
              </a:defRPr>
            </a:pPr>
            <a:r>
              <a:rPr sz="1725" b="1">
                <a:solidFill>
                  <a:srgbClr val="318C86"/>
                </a:solidFill>
              </a:rPr>
              <a:t>R&amp;D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6F5895-B8E9-4C6C-B423-DDD7BAB5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특허 기반 처방과</a:t>
            </a:r>
          </a:p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자체 연구소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9B261E26-21D1-40BC-96F2-C97C9B23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C4A48B-17E0-4EAC-85E4-C94435D3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D3F8C"/>
                </a:solidFill>
              </a:defRPr>
            </a:pPr>
            <a:r>
              <a:rPr sz="1725" b="1">
                <a:solidFill>
                  <a:srgbClr val="7D3F8C"/>
                </a:solidFill>
              </a:rPr>
              <a:t>QUALITY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141C56-DCAE-44E6-89D9-ACC5CF96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국제기준 기반</a:t>
            </a:r>
          </a:p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품질관리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53A67AF-E096-4661-B0AE-B16A557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5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88101B-53DA-46BD-A02A-F209FD6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8C86"/>
                </a:solidFill>
              </a:defRPr>
            </a:pPr>
            <a:r>
              <a:rPr sz="1725" b="1">
                <a:solidFill>
                  <a:srgbClr val="318C86"/>
                </a:solidFill>
              </a:rPr>
              <a:t>OEM·ODM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FAD5BD6-EC1C-413C-B9EF-5ED9E7AF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기획부터 생산까지</a:t>
            </a:r>
          </a:p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One-Stop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0782997-0310-4890-8BB3-8BCE64B3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EB503B-8600-4013-B8D8-B7A73C6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D3F8C"/>
                </a:solidFill>
              </a:defRPr>
            </a:pPr>
            <a:r>
              <a:rPr sz="1725" b="1">
                <a:solidFill>
                  <a:srgbClr val="7D3F8C"/>
                </a:solidFill>
              </a:rPr>
              <a:t>SUSTAINABILITY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3726D6B-0E8A-410B-9D4F-9FF92186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48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책임 있는 제조와</a:t>
            </a:r>
          </a:p>
          <a:p xmlns:a="http://schemas.openxmlformats.org/drawingml/2006/main">
            <a:pPr algn="l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장기 성장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14E8FB3-6EEB-4DA6-9597-4147C438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D3F8C"/>
                </a:solidFill>
              </a:defRPr>
            </a:pPr>
            <a:r>
              <a:rPr sz="2250" b="1">
                <a:solidFill>
                  <a:srgbClr val="7D3F8C"/>
                </a:solidFill>
              </a:rPr>
              <a:t>Science-Powered Beauty Solutions</a:t>
            </a:r>
          </a:p>
        </p:txBody>
      </p:sp>
    </p:spTree>
    <p:extLst>
      <p:ext uri="{BB962C8B-B14F-4D97-AF65-F5344CB8AC3E}">
        <p14:creationId xmlns:p14="http://schemas.microsoft.com/office/powerpoint/2010/main" val="10724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19AB7075-9E45-408F-BE28-27328C6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04  R&amp;D &amp; PRODUCTION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BDD0B87-49C3-4FAA-93EB-C0011347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아이디어를 시장 가능한 제품으로 완성합니다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3BEDCF0B-A42D-4D4C-B6EB-38DA932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4">
            <a:extLst xmlns:a="http://schemas.openxmlformats.org/drawingml/2006/main">
              <a:ext uri="{FF2B5EF4-FFF2-40B4-BE49-F238E27FC236}">
                <a16:creationId xmlns:a16="http://schemas.microsoft.com/office/drawing/2014/main" id="{B05EB700-C4A7-4830-88A1-A286D3D7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IMSHINE COMPANY PROFILE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9D37BD52-3948-4EF3-BFBD-44EB86EB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ce37e314f4429"/>
          <a:srcRect xmlns:a="http://schemas.openxmlformats.org/drawingml/2006/main" l="1781" t="0" r="1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05000"/>
            <a:ext cx="3333750" cy="214312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960b306974883"/>
          <a:srcRect xmlns:a="http://schemas.openxmlformats.org/drawingml/2006/main" l="7120" t="0" r="7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905000"/>
            <a:ext cx="3333750" cy="214312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e42c7e09c4024"/>
          <a:stretch xmlns:a="http://schemas.openxmlformats.org/drawingml/2006/main"/>
        </p:blipFill>
        <p:spPr>
          <a:xfrm xmlns:a="http://schemas.openxmlformats.org/drawingml/2006/main">
            <a:off x="8095701" y="1905000"/>
            <a:ext cx="2668098" cy="2143125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296626-A324-49B1-89AE-D3670E1C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3F8C"/>
                </a:solidFill>
              </a:defRPr>
            </a:pPr>
            <a:r>
              <a:rPr sz="1650" b="1">
                <a:solidFill>
                  <a:srgbClr val="7D3F8C"/>
                </a:solidFill>
              </a:rPr>
              <a:t>컨셉 상담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7E9B92-C88C-4F7A-AEC4-FDA0C2D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3F8C"/>
                </a:solidFill>
              </a:defRPr>
            </a:pPr>
            <a:r>
              <a:rPr sz="1650" b="1">
                <a:solidFill>
                  <a:srgbClr val="7D3F8C"/>
                </a:solidFill>
              </a:rPr>
              <a:t>→ 처방·샘플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5BCDE8-FD37-4145-893B-09BF7E84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24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3F8C"/>
                </a:solidFill>
              </a:defRPr>
            </a:pPr>
            <a:r>
              <a:rPr sz="1650" b="1">
                <a:solidFill>
                  <a:srgbClr val="7D3F8C"/>
                </a:solidFill>
              </a:rPr>
              <a:t>→ 테스트·검증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806B58-5D5D-4061-9E72-771A361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3F8C"/>
                </a:solidFill>
              </a:defRPr>
            </a:pPr>
            <a:r>
              <a:rPr sz="1650" b="1">
                <a:solidFill>
                  <a:srgbClr val="7D3F8C"/>
                </a:solidFill>
              </a:rPr>
              <a:t>→ 생산·충진·포장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FF7248-B8A2-4ABD-A9D1-3C2231E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24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3F8C"/>
                </a:solidFill>
              </a:defRPr>
            </a:pPr>
            <a:r>
              <a:rPr sz="1650" b="1">
                <a:solidFill>
                  <a:srgbClr val="7D3F8C"/>
                </a:solidFill>
              </a:rPr>
              <a:t>→ 납품·수출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EB1ADBB-3564-4C87-82A2-2BDCF6CE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C86"/>
                </a:solidFill>
              </a:defRPr>
            </a:pPr>
            <a:r>
              <a:rPr sz="1950" b="1">
                <a:solidFill>
                  <a:srgbClr val="318C86"/>
                </a:solidFill>
              </a:rPr>
              <a:t>소량 생산부터 대량생산까지 대응하는 OEM·ODM Total Solution</a:t>
            </a:r>
          </a:p>
        </p:txBody>
      </p:sp>
    </p:spTree>
    <p:extLst>
      <p:ext uri="{BB962C8B-B14F-4D97-AF65-F5344CB8AC3E}">
        <p14:creationId xmlns:p14="http://schemas.microsoft.com/office/powerpoint/2010/main" val="958927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C455E-CD08-4C44-86A0-0DDC824E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05  QUALITY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2CDAAE2-06AC-4183-83C3-B94FE4DE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인증·특허·시험으로 제품의 신뢰를 증명합니다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1813CCAC-7618-437E-9B5B-AD48AAC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5">
            <a:extLst xmlns:a="http://schemas.openxmlformats.org/drawingml/2006/main">
              <a:ext uri="{FF2B5EF4-FFF2-40B4-BE49-F238E27FC236}">
                <a16:creationId xmlns:a16="http://schemas.microsoft.com/office/drawing/2014/main" id="{6F2AB428-60BA-42BF-A2A0-0E4E8127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IMSHINE COMPANY PROFILE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01B9E113-6764-4844-8A91-52B4AA4E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4c37c94d244ca"/>
          <a:stretch xmlns:a="http://schemas.openxmlformats.org/drawingml/2006/main"/>
        </p:blipFill>
        <p:spPr>
          <a:xfrm xmlns:a="http://schemas.openxmlformats.org/drawingml/2006/main">
            <a:off x="687720" y="1905000"/>
            <a:ext cx="1710659" cy="24288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d6a65277443a0"/>
          <a:stretch xmlns:a="http://schemas.openxmlformats.org/drawingml/2006/main"/>
        </p:blipFill>
        <p:spPr>
          <a:xfrm xmlns:a="http://schemas.openxmlformats.org/drawingml/2006/main">
            <a:off x="2627530" y="1905000"/>
            <a:ext cx="1698191" cy="24288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304f03b0e4d65"/>
          <a:stretch xmlns:a="http://schemas.openxmlformats.org/drawingml/2006/main"/>
        </p:blipFill>
        <p:spPr>
          <a:xfrm xmlns:a="http://schemas.openxmlformats.org/drawingml/2006/main">
            <a:off x="4558157" y="1905000"/>
            <a:ext cx="1704085" cy="24288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883250f774f61"/>
          <a:stretch xmlns:a="http://schemas.openxmlformats.org/drawingml/2006/main"/>
        </p:blipFill>
        <p:spPr>
          <a:xfrm xmlns:a="http://schemas.openxmlformats.org/drawingml/2006/main">
            <a:off x="6858000" y="228600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a53d515764f3a"/>
          <a:stretch xmlns:a="http://schemas.openxmlformats.org/drawingml/2006/main"/>
        </p:blipFill>
        <p:spPr>
          <a:xfrm xmlns:a="http://schemas.openxmlformats.org/drawingml/2006/main">
            <a:off x="8286750" y="228600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657c1b15d4126"/>
          <a:stretch xmlns:a="http://schemas.openxmlformats.org/drawingml/2006/main"/>
        </p:blipFill>
        <p:spPr>
          <a:xfrm xmlns:a="http://schemas.openxmlformats.org/drawingml/2006/main">
            <a:off x="9720583" y="2286000"/>
            <a:ext cx="1228084" cy="1238250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6E18CC3-4F0C-4F52-9030-347F604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D3F8C"/>
                </a:solidFill>
              </a:defRPr>
            </a:pPr>
            <a:r>
              <a:rPr sz="1800" b="1">
                <a:solidFill>
                  <a:srgbClr val="7D3F8C"/>
                </a:solidFill>
              </a:rPr>
              <a:t>지식재산권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D6BDE36-E134-4543-86D9-D8E09524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2F"/>
                </a:solidFill>
              </a:defRPr>
            </a:pPr>
            <a:r>
              <a:rPr sz="1425" b="0">
                <a:solidFill>
                  <a:srgbClr val="10202F"/>
                </a:solidFill>
              </a:rPr>
              <a:t>상표와 특허를 통한 차별화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70631C1-4025-47A0-BA9B-3578771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8C86"/>
                </a:solidFill>
              </a:defRPr>
            </a:pPr>
            <a:r>
              <a:rPr sz="1800" b="1">
                <a:solidFill>
                  <a:srgbClr val="318C86"/>
                </a:solidFill>
              </a:rPr>
              <a:t>품질·안전성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E7C134-DF1D-4B9C-B66A-CF50C124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2F"/>
                </a:solidFill>
              </a:defRPr>
            </a:pPr>
            <a:r>
              <a:rPr sz="1425" b="0">
                <a:solidFill>
                  <a:srgbClr val="10202F"/>
                </a:solidFill>
              </a:rPr>
              <a:t>피부 민감성·장벽·저자극 시험</a:t>
            </a:r>
          </a:p>
        </p:txBody>
      </p:sp>
    </p:spTree>
    <p:extLst>
      <p:ext uri="{BB962C8B-B14F-4D97-AF65-F5344CB8AC3E}">
        <p14:creationId xmlns:p14="http://schemas.microsoft.com/office/powerpoint/2010/main" val="1916235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6">
            <a:extLst xmlns:a="http://schemas.openxmlformats.org/drawingml/2006/main">
              <a:ext uri="{FF2B5EF4-FFF2-40B4-BE49-F238E27FC236}">
                <a16:creationId xmlns:a16="http://schemas.microsoft.com/office/drawing/2014/main" id="{F6CC5CCB-2AD4-419F-80DE-A4C91D7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06  SKINCARE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19B09FD-0FB6-45CB-8BF1-1DA14E7D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민감 피부를 위한 세라렌 3단계 솔루션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7C3D49D2-E082-47DA-9C34-EDEDD294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6">
            <a:extLst xmlns:a="http://schemas.openxmlformats.org/drawingml/2006/main">
              <a:ext uri="{FF2B5EF4-FFF2-40B4-BE49-F238E27FC236}">
                <a16:creationId xmlns:a16="http://schemas.microsoft.com/office/drawing/2014/main" id="{F5D94928-AB8A-457F-9DF8-3FF72F66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IMSHINE COMPANY PROFILE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49655AD9-A7D3-4AC4-B7A2-66BFBCB1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420a258c64213"/>
          <a:stretch xmlns:a="http://schemas.openxmlformats.org/drawingml/2006/main"/>
        </p:blipFill>
        <p:spPr>
          <a:xfrm xmlns:a="http://schemas.openxmlformats.org/drawingml/2006/main">
            <a:off x="1036734" y="2000250"/>
            <a:ext cx="2441383" cy="23812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c18b59a714370"/>
          <a:stretch xmlns:a="http://schemas.openxmlformats.org/drawingml/2006/main"/>
        </p:blipFill>
        <p:spPr>
          <a:xfrm xmlns:a="http://schemas.openxmlformats.org/drawingml/2006/main">
            <a:off x="4525815" y="2000250"/>
            <a:ext cx="2664120" cy="2381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475b076004556"/>
          <a:stretch xmlns:a="http://schemas.openxmlformats.org/drawingml/2006/main"/>
        </p:blipFill>
        <p:spPr>
          <a:xfrm xmlns:a="http://schemas.openxmlformats.org/drawingml/2006/main">
            <a:off x="7890965" y="2000250"/>
            <a:ext cx="313472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E13209-2DC6-42BF-92AC-18C7F85E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8C86"/>
                </a:solidFill>
              </a:defRPr>
            </a:pPr>
            <a:r>
              <a:rPr sz="1575" b="1">
                <a:solidFill>
                  <a:srgbClr val="318C86"/>
                </a:solidFill>
              </a:rPr>
              <a:t>BOOSTER TONER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8AFABD-4C87-43E7-A482-15555CCF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67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8C86"/>
                </a:solidFill>
              </a:defRPr>
            </a:pPr>
            <a:r>
              <a:rPr sz="1575" b="1">
                <a:solidFill>
                  <a:srgbClr val="318C86"/>
                </a:solidFill>
              </a:rPr>
              <a:t>AMPOULE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F35787-1517-443D-9657-1E205D96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67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8C86"/>
                </a:solidFill>
              </a:defRPr>
            </a:pPr>
            <a:r>
              <a:rPr sz="1575" b="1">
                <a:solidFill>
                  <a:srgbClr val="318C86"/>
                </a:solidFill>
              </a:rPr>
              <a:t>CREAM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A5F1CCC-B7E3-4DBB-B44D-FD5D0A0B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D3F8C"/>
                </a:solidFill>
              </a:defRPr>
            </a:pPr>
            <a:r>
              <a:rPr sz="2025" b="1">
                <a:solidFill>
                  <a:srgbClr val="7D3F8C"/>
                </a:solidFill>
              </a:rPr>
              <a:t>피부 밸런스 → 집중 진정·보습 → 피부장벽 강화</a:t>
            </a:r>
          </a:p>
        </p:txBody>
      </p:sp>
    </p:spTree>
    <p:extLst>
      <p:ext uri="{BB962C8B-B14F-4D97-AF65-F5344CB8AC3E}">
        <p14:creationId xmlns:p14="http://schemas.microsoft.com/office/powerpoint/2010/main" val="1482013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7">
            <a:extLst xmlns:a="http://schemas.openxmlformats.org/drawingml/2006/main">
              <a:ext uri="{FF2B5EF4-FFF2-40B4-BE49-F238E27FC236}">
                <a16:creationId xmlns:a16="http://schemas.microsoft.com/office/drawing/2014/main" id="{1295059D-4E8F-4397-BD3E-92CAE862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07  FRAGRANCE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944F6C5-DAF0-4395-A3ED-D8887D2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향수에서 헤어·바디케어까지 감성을 확장합니다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ED26A320-7684-4201-97EB-2A3636D2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7">
            <a:extLst xmlns:a="http://schemas.openxmlformats.org/drawingml/2006/main">
              <a:ext uri="{FF2B5EF4-FFF2-40B4-BE49-F238E27FC236}">
                <a16:creationId xmlns:a16="http://schemas.microsoft.com/office/drawing/2014/main" id="{3A74E471-B219-4EFF-A001-8349D2CC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IMSHINE COMPANY PROFILE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64EBAC50-3DF9-4112-B962-CC9743CA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f6b018fc145a1"/>
          <a:stretch xmlns:a="http://schemas.openxmlformats.org/drawingml/2006/main"/>
        </p:blipFill>
        <p:spPr>
          <a:xfrm xmlns:a="http://schemas.openxmlformats.org/drawingml/2006/main">
            <a:off x="1043696" y="1952625"/>
            <a:ext cx="2427458" cy="271462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7c690f51f4ff8"/>
          <a:stretch xmlns:a="http://schemas.openxmlformats.org/drawingml/2006/main"/>
        </p:blipFill>
        <p:spPr>
          <a:xfrm xmlns:a="http://schemas.openxmlformats.org/drawingml/2006/main">
            <a:off x="4459391" y="1952625"/>
            <a:ext cx="2892217" cy="271462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9aaeb88784b91"/>
          <a:stretch xmlns:a="http://schemas.openxmlformats.org/drawingml/2006/main"/>
        </p:blipFill>
        <p:spPr>
          <a:xfrm xmlns:a="http://schemas.openxmlformats.org/drawingml/2006/main">
            <a:off x="8219937" y="1952625"/>
            <a:ext cx="2667277" cy="2714625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139F2E-5E4C-4E31-9D2B-31B5A7B6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3F8C"/>
                </a:solidFill>
              </a:defRPr>
            </a:pPr>
            <a:r>
              <a:rPr sz="1725" b="1">
                <a:solidFill>
                  <a:srgbClr val="7D3F8C"/>
                </a:solidFill>
              </a:rPr>
              <a:t>FINE 등급 향료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C4F963-E00C-45A6-9722-F1DB2856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05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3F8C"/>
                </a:solidFill>
              </a:defRPr>
            </a:pPr>
            <a:r>
              <a:rPr sz="1725" b="1">
                <a:solidFill>
                  <a:srgbClr val="7D3F8C"/>
                </a:solidFill>
              </a:rPr>
              <a:t>헤어·바디 확장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0BC374E-00F1-4C6F-B680-031B257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05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3F8C"/>
                </a:solidFill>
              </a:defRPr>
            </a:pPr>
            <a:r>
              <a:rPr sz="1725" b="1">
                <a:solidFill>
                  <a:srgbClr val="7D3F8C"/>
                </a:solidFill>
              </a:rPr>
              <a:t>25가지 향의 스토리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27A379-E095-4A75-B766-6F9FE62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02F"/>
                </a:solidFill>
              </a:defRPr>
            </a:pPr>
            <a:r>
              <a:rPr sz="1950" b="1">
                <a:solidFill>
                  <a:srgbClr val="10202F"/>
                </a:solidFill>
              </a:rPr>
              <a:t>나만의 향, 나만의 정체성을 완성하는 K-Beauty 경험</a:t>
            </a:r>
          </a:p>
        </p:txBody>
      </p:sp>
    </p:spTree>
    <p:extLst>
      <p:ext uri="{BB962C8B-B14F-4D97-AF65-F5344CB8AC3E}">
        <p14:creationId xmlns:p14="http://schemas.microsoft.com/office/powerpoint/2010/main" val="1490306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8">
            <a:extLst xmlns:a="http://schemas.openxmlformats.org/drawingml/2006/main">
              <a:ext uri="{FF2B5EF4-FFF2-40B4-BE49-F238E27FC236}">
                <a16:creationId xmlns:a16="http://schemas.microsoft.com/office/drawing/2014/main" id="{080DE658-6925-4CA4-87E0-EC743728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B46B"/>
                </a:solidFill>
              </a:defRPr>
            </a:pPr>
            <a:r>
              <a:rPr sz="1125" b="1">
                <a:solidFill>
                  <a:srgbClr val="D9B46B"/>
                </a:solidFill>
              </a:rPr>
              <a:t>08  GLOBAL PARTNERSHIP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2C64B0A-17FC-46C8-BAFD-6720F60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INEUNA와 함께 K-Beauty의 해외시장을 만듭니다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78D0F5BE-EF2B-4F6A-B7C2-B223431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8">
            <a:extLst xmlns:a="http://schemas.openxmlformats.org/drawingml/2006/main">
              <a:ext uri="{FF2B5EF4-FFF2-40B4-BE49-F238E27FC236}">
                <a16:creationId xmlns:a16="http://schemas.microsoft.com/office/drawing/2014/main" id="{8FEA0F88-7E9A-41FC-8D24-7C6FBDEF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CA"/>
                </a:solidFill>
              </a:defRPr>
            </a:pPr>
            <a:r>
              <a:rPr sz="825" b="1">
                <a:solidFill>
                  <a:srgbClr val="B7C0CA"/>
                </a:solidFill>
              </a:rPr>
              <a:t>IMSHINE × INEUNA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DA71D9BF-A964-4D32-B1A6-83062426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0CA"/>
                </a:solidFill>
              </a:defRPr>
            </a:pPr>
            <a:r>
              <a:rPr sz="825" b="0">
                <a:solidFill>
                  <a:srgbClr val="B7C0CA"/>
                </a:solidFill>
              </a:rPr>
              <a:t>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5a1e8f43a414c"/>
          <a:srcRect xmlns:a="http://schemas.openxmlformats.org/drawingml/2006/main" l="6055" t="0" r="60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05000"/>
            <a:ext cx="4762500" cy="30480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DFDBBF2-7567-43C9-84D1-485F79A8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B46B"/>
                </a:solidFill>
              </a:defRPr>
            </a:pPr>
            <a:r>
              <a:rPr sz="2100" b="1">
                <a:solidFill>
                  <a:srgbClr val="D9B46B"/>
                </a:solidFill>
              </a:rPr>
              <a:t>IMSHINE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F3C183-C961-4688-BF28-14EC8BE7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제품 · 연구 · 제조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DCC0D47-D647-4514-829B-969B2FE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B46B"/>
                </a:solidFill>
              </a:defRPr>
            </a:pPr>
            <a:r>
              <a:rPr sz="2100" b="1">
                <a:solidFill>
                  <a:srgbClr val="D9B46B"/>
                </a:solidFill>
              </a:rPr>
              <a:t>＋  INEUNA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E2D7EC4-F2C4-4B5F-9248-FAAAA7A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시장 · 파트너 · 무역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B15114-FD7E-4E84-8905-5F597B55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B46B"/>
                </a:solidFill>
              </a:defRPr>
            </a:pPr>
            <a:r>
              <a:rPr sz="1875" b="1">
                <a:solidFill>
                  <a:srgbClr val="D9B46B"/>
                </a:solidFill>
              </a:rPr>
              <a:t>AFRICA · MEXICO · USA · ASIA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7A8595-AF90-48E3-8C0A-C71BB0C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제품소개를 넘어 반복 거래되는 글로벌 K-Beauty 사업으로</a:t>
            </a:r>
          </a:p>
        </p:txBody>
      </p:sp>
    </p:spTree>
    <p:extLst>
      <p:ext uri="{BB962C8B-B14F-4D97-AF65-F5344CB8AC3E}">
        <p14:creationId xmlns:p14="http://schemas.microsoft.com/office/powerpoint/2010/main" val="1152127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2026-09-07T03:10:36.6820000Z</dcterms:created>
  <dcterms:modified xsi:type="dcterms:W3CDTF">2026-09-07T03:10:36.6820000Z</dcterms:modified>
</coreProperties>
</file>