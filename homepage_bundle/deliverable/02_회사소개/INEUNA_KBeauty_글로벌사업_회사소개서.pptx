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620d5d9e0c44b6" /><Relationship Type="http://schemas.openxmlformats.org/officeDocument/2006/relationships/extended-properties" Target="/docProps/app.xml" Id="Rc662366c164f4e76" /><Relationship Type="http://schemas.openxmlformats.org/officeDocument/2006/relationships/officeDocument" Target="/ppt/presentation.xml" Id="R55f63953f1e549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9c7b52206a4f5b"/>
  </p:sldMasterIdLst>
  <p:notesMasterIdLst>
    <p:notesMasterId xmlns:r="http://schemas.openxmlformats.org/officeDocument/2006/relationships" r:id="Ree44bf144151484e"/>
  </p:notesMasterIdLst>
  <p:sldIdLst>
    <p:sldId xmlns:r="http://schemas.openxmlformats.org/officeDocument/2006/relationships" id="256" r:id="Rb4faa7cd53f14bac"/>
    <p:sldId xmlns:r="http://schemas.openxmlformats.org/officeDocument/2006/relationships" id="257" r:id="R3867d44b58a64ffb"/>
    <p:sldId xmlns:r="http://schemas.openxmlformats.org/officeDocument/2006/relationships" id="258" r:id="Red1a07849d814afc"/>
    <p:sldId xmlns:r="http://schemas.openxmlformats.org/officeDocument/2006/relationships" id="259" r:id="R26048232ef864bd3"/>
    <p:sldId xmlns:r="http://schemas.openxmlformats.org/officeDocument/2006/relationships" id="260" r:id="R60115fe4a9c1410e"/>
    <p:sldId xmlns:r="http://schemas.openxmlformats.org/officeDocument/2006/relationships" id="261" r:id="R04c508df64e04c05"/>
    <p:sldId xmlns:r="http://schemas.openxmlformats.org/officeDocument/2006/relationships" id="262" r:id="Rc487fa0d1200413a"/>
    <p:sldId xmlns:r="http://schemas.openxmlformats.org/officeDocument/2006/relationships" id="263" r:id="Ra114e0626bc144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b684f18c3547a9" /><Relationship Type="http://schemas.openxmlformats.org/officeDocument/2006/relationships/slideMaster" Target="/ppt/slideMasters/slideMaster1.xml" Id="Rc09c7b52206a4f5b" /><Relationship Type="http://schemas.openxmlformats.org/officeDocument/2006/relationships/notesMaster" Target="/ppt/notesMasters/notesMaster1.xml" Id="Ree44bf144151484e" /><Relationship Type="http://schemas.openxmlformats.org/officeDocument/2006/relationships/presProps" Target="/ppt/presProps.xml" Id="R161d80b9eb02478a" /><Relationship Type="http://schemas.openxmlformats.org/officeDocument/2006/relationships/tableStyles" Target="/ppt/tableStyles.xml" Id="R99c1ac7fed1e47de" /><Relationship Type="http://schemas.openxmlformats.org/officeDocument/2006/relationships/slide" Target="/ppt/slides/slide1.xml" Id="Rb4faa7cd53f14bac" /><Relationship Type="http://schemas.openxmlformats.org/officeDocument/2006/relationships/slide" Target="/ppt/slides/slide2.xml" Id="R3867d44b58a64ffb" /><Relationship Type="http://schemas.openxmlformats.org/officeDocument/2006/relationships/slide" Target="/ppt/slides/slide3.xml" Id="Red1a07849d814afc" /><Relationship Type="http://schemas.openxmlformats.org/officeDocument/2006/relationships/slide" Target="/ppt/slides/slide4.xml" Id="R26048232ef864bd3" /><Relationship Type="http://schemas.openxmlformats.org/officeDocument/2006/relationships/slide" Target="/ppt/slides/slide5.xml" Id="R60115fe4a9c1410e" /><Relationship Type="http://schemas.openxmlformats.org/officeDocument/2006/relationships/slide" Target="/ppt/slides/slide6.xml" Id="R04c508df64e04c05" /><Relationship Type="http://schemas.openxmlformats.org/officeDocument/2006/relationships/slide" Target="/ppt/slides/slide7.xml" Id="Rc487fa0d1200413a" /><Relationship Type="http://schemas.openxmlformats.org/officeDocument/2006/relationships/slide" Target="/ppt/slides/slide8.xml" Id="Ra114e0626bc144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07e7c9fc204e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40882e9cca4e8c" /><Relationship Type="http://schemas.openxmlformats.org/officeDocument/2006/relationships/notesMaster" Target="/ppt/notesMasters/notesMaster1.xml" Id="R046accea9c0f4c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a0bfba32d840a1" /><Relationship Type="http://schemas.openxmlformats.org/officeDocument/2006/relationships/notesMaster" Target="/ppt/notesMasters/notesMaster1.xml" Id="R9ca4f43198514f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1c2ac12ac44d16" /><Relationship Type="http://schemas.openxmlformats.org/officeDocument/2006/relationships/notesMaster" Target="/ppt/notesMasters/notesMaster1.xml" Id="Rf6f04dadf33242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63fbc385944125" /><Relationship Type="http://schemas.openxmlformats.org/officeDocument/2006/relationships/notesMaster" Target="/ppt/notesMasters/notesMaster1.xml" Id="R0da2cae4bee74a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9cd5eaad784fd7" /><Relationship Type="http://schemas.openxmlformats.org/officeDocument/2006/relationships/notesMaster" Target="/ppt/notesMasters/notesMaster1.xml" Id="R273145b14ea74c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50fa917d5e4398" /><Relationship Type="http://schemas.openxmlformats.org/officeDocument/2006/relationships/notesMaster" Target="/ppt/notesMasters/notesMaster1.xml" Id="R19c3897a198640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0787d8e6b54635" /><Relationship Type="http://schemas.openxmlformats.org/officeDocument/2006/relationships/notesMaster" Target="/ppt/notesMasters/notesMaster1.xml" Id="R383439ef0bcd40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258b2f27564b76" /><Relationship Type="http://schemas.openxmlformats.org/officeDocument/2006/relationships/notesMaster" Target="/ppt/notesMasters/notesMaster1.xml" Id="Raacd34fa969a47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INEUNA는 K-Beauty 제품을 해외시장에 연결하는 글로벌 무역·사업개발 회사입니다.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INEUNA company and collaboration context; IMSHINE product images from supplied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임샤인의 제품·연구·제조 역량과 INEUNA의 시장·파트너·무역 역량을 결합합니다.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IMSHINE and INEUNA collaboration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INEUNA는 상품을 소개하는 데서 멈추지 않고 거래가 작동하는 구조를 설계합니다.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INEUNA operating principles and company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K-Beauty 해외사업은 시장, 인증, 파트너, 무역, 반복판매의 연결이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K-Beauty market-entry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INEUNA는 시장검증에서 판매와 재주문까지 하나의 실행흐름으로 관리합니다.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INEUNA K-Beauty execution model; product image from IMSHINE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아프리카, 멕시코, 미국, 아시아는 각기 다른 진입절차와 파트너 전략이 필요합니다.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Africa, Mexico, U.S., and Asia business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INEUNA의 여러 사업영역은 해외 파트너와 계약, 물류를 실행하는 역량을 공유합니다.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INEUNA business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INEUNA와 임샤인은 각자의 전문성을 결합해 지속 가능한 글로벌 K-Beauty 사업을 만들고자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IMSHINE × INEUNA collaboration principles.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2725a9a9743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c1de05fdb34ff0" /><Relationship Type="http://schemas.openxmlformats.org/officeDocument/2006/relationships/slideLayout" Target="/ppt/slideLayouts/slideLayout1.xml" Id="R075363f1c56342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5363f1c56342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e915410b4451c" /><Relationship Type="http://schemas.openxmlformats.org/officeDocument/2006/relationships/image" Target="/ppt/media/image.png" Id="R5c5499a9c3e04c27" /><Relationship Type="http://schemas.openxmlformats.org/officeDocument/2006/relationships/image" Target="/ppt/media/image2.png" Id="R5e39a669573145fd" /><Relationship Type="http://schemas.openxmlformats.org/officeDocument/2006/relationships/notesSlide" Target="/ppt/notesSlides/notesSlide1.xml" Id="Rae09bcd5175e49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2cafe8cf044ef" /><Relationship Type="http://schemas.openxmlformats.org/officeDocument/2006/relationships/image" Target="/ppt/media/image.jpeg" Id="R95c047b7ca62487b" /><Relationship Type="http://schemas.openxmlformats.org/officeDocument/2006/relationships/notesSlide" Target="/ppt/notesSlides/notesSlide2.xml" Id="R5a490ff507f846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7938738c04c15" /><Relationship Type="http://schemas.openxmlformats.org/officeDocument/2006/relationships/image" Target="/ppt/media/image3.png" Id="Rd0ab2f0ab1c24f1f" /><Relationship Type="http://schemas.openxmlformats.org/officeDocument/2006/relationships/notesSlide" Target="/ppt/notesSlides/notesSlide3.xml" Id="R0dd3e49562d54b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bdabcea624393" /><Relationship Type="http://schemas.openxmlformats.org/officeDocument/2006/relationships/notesSlide" Target="/ppt/notesSlides/notesSlide4.xml" Id="R866032f8c77c47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e262795e4404d" /><Relationship Type="http://schemas.openxmlformats.org/officeDocument/2006/relationships/image" Target="/ppt/media/image4.png" Id="R5f122bf251e44bb0" /><Relationship Type="http://schemas.openxmlformats.org/officeDocument/2006/relationships/notesSlide" Target="/ppt/notesSlides/notesSlide5.xml" Id="Rda7c8cd69eaa4c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0d393a9094cc9" /><Relationship Type="http://schemas.openxmlformats.org/officeDocument/2006/relationships/notesSlide" Target="/ppt/notesSlides/notesSlide6.xml" Id="Rfa534a4bc88a49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4c383d6e14966" /><Relationship Type="http://schemas.openxmlformats.org/officeDocument/2006/relationships/notesSlide" Target="/ppt/notesSlides/notesSlide7.xml" Id="R6b6e3604c48641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34e3b8e724e1f" /><Relationship Type="http://schemas.openxmlformats.org/officeDocument/2006/relationships/image" Target="/ppt/media/image2.jpeg" Id="R539b3e5fad454b83" /><Relationship Type="http://schemas.openxmlformats.org/officeDocument/2006/relationships/notesSlide" Target="/ppt/notesSlides/notesSlide8.xml" Id="R9d77cd76c4944a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DE4B8E9-03F6-4240-A7FC-3ACB7CF1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21BCC4C-4677-4367-89A1-3109CD6B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B46B"/>
                </a:solidFill>
              </a:defRPr>
            </a:pPr>
            <a:r>
              <a:rPr sz="1425" b="1">
                <a:solidFill>
                  <a:srgbClr val="D9B46B"/>
                </a:solidFill>
              </a:rPr>
              <a:t>INEUNA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4EC9526-9EF4-401C-ADF0-4C08E844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638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K-Beauty를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세계의 실제 시장으로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46A5F5-D608-4411-AD2D-CDA84105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B46B"/>
                </a:solidFill>
              </a:defRPr>
            </a:pPr>
            <a:r>
              <a:rPr sz="1425" b="1">
                <a:solidFill>
                  <a:srgbClr val="D9B46B"/>
                </a:solidFill>
              </a:rPr>
              <a:t>GLOBAL TRADE &amp; MARKET DEVELOPMENT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53FFBAC-08DB-49CF-84E5-C6D4AD85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B46B"/>
                </a:solidFill>
              </a:defRPr>
            </a:pPr>
            <a:r>
              <a:rPr sz="1650" b="1">
                <a:solidFill>
                  <a:srgbClr val="D9B46B"/>
                </a:solidFill>
              </a:rPr>
              <a:t>Strategic K-Beauty Partner  |  IMSHINE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499a9c3e04c27"/>
          <a:stretch xmlns:a="http://schemas.openxmlformats.org/drawingml/2006/main"/>
        </p:blipFill>
        <p:spPr>
          <a:xfrm xmlns:a="http://schemas.openxmlformats.org/drawingml/2006/main">
            <a:off x="8231966" y="952500"/>
            <a:ext cx="2395569" cy="22860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9a669573145fd"/>
          <a:stretch xmlns:a="http://schemas.openxmlformats.org/drawingml/2006/main"/>
        </p:blipFill>
        <p:spPr>
          <a:xfrm xmlns:a="http://schemas.openxmlformats.org/drawingml/2006/main">
            <a:off x="8355542" y="3667125"/>
            <a:ext cx="2148417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1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2">
            <a:extLst xmlns:a="http://schemas.openxmlformats.org/drawingml/2006/main">
              <a:ext uri="{FF2B5EF4-FFF2-40B4-BE49-F238E27FC236}">
                <a16:creationId xmlns:a16="http://schemas.microsoft.com/office/drawing/2014/main" id="{B0860FCA-9A99-4736-8EEA-9BCDB07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B46B"/>
                </a:solidFill>
              </a:defRPr>
            </a:pPr>
            <a:r>
              <a:rPr sz="1125" b="1">
                <a:solidFill>
                  <a:srgbClr val="D9B46B"/>
                </a:solidFill>
              </a:rPr>
              <a:t>02  K-BEAUTY PARTNERSHIP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C3A189D-EDEA-4A8F-92C9-23E962E5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제품력과 시장 실행력을 하나로 연결합니다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69FE5F6A-95A6-4071-B4FB-E1401DC8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2">
            <a:extLst xmlns:a="http://schemas.openxmlformats.org/drawingml/2006/main">
              <a:ext uri="{FF2B5EF4-FFF2-40B4-BE49-F238E27FC236}">
                <a16:creationId xmlns:a16="http://schemas.microsoft.com/office/drawing/2014/main" id="{FAA4763D-F303-4A50-AED1-DE1D235F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0CA"/>
                </a:solidFill>
              </a:defRPr>
            </a:pPr>
            <a:r>
              <a:rPr sz="825" b="1">
                <a:solidFill>
                  <a:srgbClr val="B7C0CA"/>
                </a:solidFill>
              </a:rPr>
              <a:t>INEUNA COMPANY PROFILE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BDD363A9-4179-40C4-A56D-C4F48601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0CA"/>
                </a:solidFill>
              </a:defRPr>
            </a:pPr>
            <a:r>
              <a:rPr sz="825" b="0">
                <a:solidFill>
                  <a:srgbClr val="B7C0CA"/>
                </a:solidFill>
              </a:rPr>
              <a:t>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047b7ca62487b"/>
          <a:stretch xmlns:a="http://schemas.openxmlformats.org/drawingml/2006/main"/>
        </p:blipFill>
        <p:spPr>
          <a:xfrm xmlns:a="http://schemas.openxmlformats.org/drawingml/2006/main">
            <a:off x="685800" y="1983241"/>
            <a:ext cx="4476750" cy="2558143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05DE53-AAF5-4B5A-B60D-D7EA0A37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47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B46B"/>
                </a:solidFill>
              </a:defRPr>
            </a:pPr>
            <a:r>
              <a:rPr sz="2175" b="1">
                <a:solidFill>
                  <a:srgbClr val="D9B46B"/>
                </a:solidFill>
              </a:rPr>
              <a:t>IMSHINE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21D1C9-F0EC-43FF-A053-67EF9BE0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95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제품 · 연구 · 제조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C72E88-D741-4FB2-BA53-A075552B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9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B46B"/>
                </a:solidFill>
              </a:defRPr>
            </a:pPr>
            <a:r>
              <a:rPr sz="3000" b="1">
                <a:solidFill>
                  <a:srgbClr val="D9B46B"/>
                </a:solidFill>
              </a:rPr>
              <a:t>×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6DC3857-4150-4F4C-9F10-5B68FDCB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B46B"/>
                </a:solidFill>
              </a:defRPr>
            </a:pPr>
            <a:r>
              <a:rPr sz="2175" b="1">
                <a:solidFill>
                  <a:srgbClr val="D9B46B"/>
                </a:solidFill>
              </a:rPr>
              <a:t>INEUNA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6D3DBE4-79EE-4E9C-874D-510D8B88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814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시장 · 파트너 · 무역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08D4018-7BE4-4357-B7F8-365CB340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B46B"/>
                </a:solidFill>
              </a:defRPr>
            </a:pPr>
            <a:r>
              <a:rPr sz="2175" b="1">
                <a:solidFill>
                  <a:srgbClr val="D9B46B"/>
                </a:solidFill>
              </a:rPr>
              <a:t>GOOD PRODUCT → REAL MARKET</a:t>
            </a:r>
          </a:p>
        </p:txBody>
      </p:sp>
    </p:spTree>
    <p:extLst>
      <p:ext uri="{BB962C8B-B14F-4D97-AF65-F5344CB8AC3E}">
        <p14:creationId xmlns:p14="http://schemas.microsoft.com/office/powerpoint/2010/main" val="1966295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3">
            <a:extLst xmlns:a="http://schemas.openxmlformats.org/drawingml/2006/main">
              <a:ext uri="{FF2B5EF4-FFF2-40B4-BE49-F238E27FC236}">
                <a16:creationId xmlns:a16="http://schemas.microsoft.com/office/drawing/2014/main" id="{F251F461-2A38-427A-AD8A-DF1E9F2B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3F8C"/>
                </a:solidFill>
              </a:defRPr>
            </a:pPr>
            <a:r>
              <a:rPr sz="1125" b="1">
                <a:solidFill>
                  <a:srgbClr val="7D3F8C"/>
                </a:solidFill>
              </a:rPr>
              <a:t>03  ABOUT INEUNA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546C466-DA0F-4465-B9D5-56D81D36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F"/>
                </a:solidFill>
              </a:defRPr>
            </a:pPr>
            <a:r>
              <a:rPr sz="2850" b="1">
                <a:solidFill>
                  <a:srgbClr val="10202F"/>
                </a:solidFill>
              </a:rPr>
              <a:t>국가와 기업 사이의 사업을 설계합니다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93ECE4F4-A241-444A-BA43-138B8EB6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3">
            <a:extLst xmlns:a="http://schemas.openxmlformats.org/drawingml/2006/main">
              <a:ext uri="{FF2B5EF4-FFF2-40B4-BE49-F238E27FC236}">
                <a16:creationId xmlns:a16="http://schemas.microsoft.com/office/drawing/2014/main" id="{2E028DC9-FCB1-4856-B78D-9E2EB01B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INEUNA COMPANY PROFILE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90CA9C34-D79D-45AD-9996-F652BDB2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6391B50-0751-46A9-BD4C-633F0965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D3F8C"/>
                </a:solidFill>
              </a:defRPr>
            </a:pPr>
            <a:r>
              <a:rPr sz="2250" b="1">
                <a:solidFill>
                  <a:srgbClr val="7D3F8C"/>
                </a:solidFill>
              </a:rPr>
              <a:t>단순한 상품 중개를 넘어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6C96E0-73BE-4EC3-B715-A59F40BA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02F"/>
                </a:solidFill>
              </a:defRPr>
            </a:pPr>
            <a:r>
              <a:rPr sz="1725" b="0">
                <a:solidFill>
                  <a:srgbClr val="10202F"/>
                </a:solidFill>
              </a:rPr>
              <a:t>시장 확인부터 파트너 발굴, 계약, 물류와</a:t>
            </a:r>
          </a:p>
          <a:p xmlns:a="http://schemas.openxmlformats.org/drawingml/2006/main">
            <a:pPr algn="l">
              <a:defRPr sz="1725" b="0">
                <a:solidFill>
                  <a:srgbClr val="10202F"/>
                </a:solidFill>
              </a:defRPr>
            </a:pPr>
            <a:r>
              <a:rPr sz="1725" b="0">
                <a:solidFill>
                  <a:srgbClr val="10202F"/>
                </a:solidFill>
              </a:rPr>
              <a:t>유통까지 실제 거래의 전 과정을 연결합니다.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b2f0ab1c24f1f"/>
          <a:srcRect xmlns:a="http://schemas.openxmlformats.org/drawingml/2006/main" l="0" t="4593" r="0" b="4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1809750"/>
            <a:ext cx="41910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label-VISION">
            <a:extLst xmlns:a="http://schemas.openxmlformats.org/drawingml/2006/main">
              <a:ext uri="{FF2B5EF4-FFF2-40B4-BE49-F238E27FC236}">
                <a16:creationId xmlns:a16="http://schemas.microsoft.com/office/drawing/2014/main" id="{7338F704-C78E-4BC5-8ECD-B235E408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8C86"/>
                </a:solidFill>
              </a:defRPr>
            </a:pPr>
            <a:r>
              <a:rPr sz="1800" b="1">
                <a:solidFill>
                  <a:srgbClr val="318C86"/>
                </a:solidFill>
              </a:rPr>
              <a:t>VISION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D6469F-65FD-4163-90A0-58BFF0DB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F"/>
                </a:solidFill>
              </a:defRPr>
            </a:pPr>
            <a:r>
              <a:rPr sz="1800" b="1">
                <a:solidFill>
                  <a:srgbClr val="10202F"/>
                </a:solidFill>
              </a:rPr>
              <a:t>한국의 좋은 제품과 세계의 시장이</a:t>
            </a:r>
          </a:p>
          <a:p xmlns:a="http://schemas.openxmlformats.org/drawingml/2006/main">
            <a:pPr algn="l">
              <a:defRPr sz="1800" b="1">
                <a:solidFill>
                  <a:srgbClr val="10202F"/>
                </a:solidFill>
              </a:defRPr>
            </a:pPr>
            <a:r>
              <a:rPr sz="1800" b="1">
                <a:solidFill>
                  <a:srgbClr val="10202F"/>
                </a:solidFill>
              </a:rPr>
              <a:t>함께 성장하는 신뢰 기반 거래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7C65BC6-73BC-41B4-AB71-B3F323B7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958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D3F8C"/>
                </a:solidFill>
              </a:defRPr>
            </a:pPr>
            <a:r>
              <a:rPr sz="1875" b="1">
                <a:solidFill>
                  <a:srgbClr val="7D3F8C"/>
                </a:solidFill>
              </a:rPr>
              <a:t>확인 → 공유 → 검증 → 확정</a:t>
            </a:r>
          </a:p>
        </p:txBody>
      </p:sp>
    </p:spTree>
    <p:extLst>
      <p:ext uri="{BB962C8B-B14F-4D97-AF65-F5344CB8AC3E}">
        <p14:creationId xmlns:p14="http://schemas.microsoft.com/office/powerpoint/2010/main" val="702334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4">
            <a:extLst xmlns:a="http://schemas.openxmlformats.org/drawingml/2006/main">
              <a:ext uri="{FF2B5EF4-FFF2-40B4-BE49-F238E27FC236}">
                <a16:creationId xmlns:a16="http://schemas.microsoft.com/office/drawing/2014/main" id="{059AA59A-B4D2-4194-B60F-8FC60D94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3F8C"/>
                </a:solidFill>
              </a:defRPr>
            </a:pPr>
            <a:r>
              <a:rPr sz="1125" b="1">
                <a:solidFill>
                  <a:srgbClr val="7D3F8C"/>
                </a:solidFill>
              </a:rPr>
              <a:t>04  WHY INEUNA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7B37273-9897-4C34-8A5F-B46DAB6B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F"/>
                </a:solidFill>
              </a:defRPr>
            </a:pPr>
            <a:r>
              <a:rPr sz="2850" b="1">
                <a:solidFill>
                  <a:srgbClr val="10202F"/>
                </a:solidFill>
              </a:rPr>
              <a:t>K-Beauty의 해외진출은 제품 이후가 중요합니다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8BD845AB-319B-4E62-A2E8-C82401F6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4">
            <a:extLst xmlns:a="http://schemas.openxmlformats.org/drawingml/2006/main">
              <a:ext uri="{FF2B5EF4-FFF2-40B4-BE49-F238E27FC236}">
                <a16:creationId xmlns:a16="http://schemas.microsoft.com/office/drawing/2014/main" id="{69135FEC-6631-4478-932F-BE9A0B5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INEUNA COMPANY PROFILE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C710BADB-3BCA-4F95-B70C-85363F26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88E08065-5B27-4890-BB7E-1D015E78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66900" cy="21907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57B83B-8FE2-478C-B814-DC8696E5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8C86"/>
                </a:solidFill>
              </a:defRPr>
            </a:pPr>
            <a:r>
              <a:rPr sz="1950" b="1">
                <a:solidFill>
                  <a:srgbClr val="318C86"/>
                </a:solidFill>
              </a:rPr>
              <a:t>시장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3BABBC-EDA2-4A90-ADE4-91C1BCF9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2F"/>
                </a:solidFill>
              </a:defRPr>
            </a:pPr>
            <a:r>
              <a:rPr sz="1425" b="1">
                <a:solidFill>
                  <a:srgbClr val="10202F"/>
                </a:solidFill>
              </a:rPr>
              <a:t>누가 왜 구매하는가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2FDD12F1-04B1-4BD8-9DF5-7A4EC445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866900" cy="21907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F1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B49C66-3FDB-4C07-89DF-7271B0E7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288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D3F8C"/>
                </a:solidFill>
              </a:defRPr>
            </a:pPr>
            <a:r>
              <a:rPr sz="1950" b="1">
                <a:solidFill>
                  <a:srgbClr val="7D3F8C"/>
                </a:solidFill>
              </a:rPr>
              <a:t>인증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FDCDCF7-4AEA-4BD2-977C-637E197D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2F"/>
                </a:solidFill>
              </a:defRPr>
            </a:pPr>
            <a:r>
              <a:rPr sz="1425" b="1">
                <a:solidFill>
                  <a:srgbClr val="10202F"/>
                </a:solidFill>
              </a:rPr>
              <a:t>국가별 등록과 기준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8829FC4-77C8-44EC-A343-FA256405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1866900" cy="21907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DD0504-3E64-462A-85DF-FD5B2DF0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8C86"/>
                </a:solidFill>
              </a:defRPr>
            </a:pPr>
            <a:r>
              <a:rPr sz="1950" b="1">
                <a:solidFill>
                  <a:srgbClr val="318C86"/>
                </a:solidFill>
              </a:rPr>
              <a:t>파트너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3D66C06-CA0B-4A8C-ABA4-9E608027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2F"/>
                </a:solidFill>
              </a:defRPr>
            </a:pPr>
            <a:r>
              <a:rPr sz="1425" b="1">
                <a:solidFill>
                  <a:srgbClr val="10202F"/>
                </a:solidFill>
              </a:rPr>
              <a:t>현지 유통·영업 주체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43C230F6-400E-4ABB-A894-1073BC5D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1866900" cy="21907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F1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2C31DBD-1E5D-46F5-A433-E86473A4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288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D3F8C"/>
                </a:solidFill>
              </a:defRPr>
            </a:pPr>
            <a:r>
              <a:rPr sz="1950" b="1">
                <a:solidFill>
                  <a:srgbClr val="7D3F8C"/>
                </a:solidFill>
              </a:rPr>
              <a:t>무역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CDC1A8C-AD5B-4A20-8757-6576B36B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2F"/>
                </a:solidFill>
              </a:defRPr>
            </a:pPr>
            <a:r>
              <a:rPr sz="1425" b="1">
                <a:solidFill>
                  <a:srgbClr val="10202F"/>
                </a:solidFill>
              </a:rPr>
              <a:t>계약·물류·통관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E4DAB503-74C2-427F-B1F3-4E2E8C7D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1866900" cy="21907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2651A45-2C41-4678-BDB0-8AA5864E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288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8C86"/>
                </a:solidFill>
              </a:defRPr>
            </a:pPr>
            <a:r>
              <a:rPr sz="1950" b="1">
                <a:solidFill>
                  <a:srgbClr val="318C86"/>
                </a:solidFill>
              </a:rPr>
              <a:t>반복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0FEA7A8-64F4-49D2-85FE-4323B0C5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4325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2F"/>
                </a:solidFill>
              </a:defRPr>
            </a:pPr>
            <a:r>
              <a:rPr sz="1425" b="1">
                <a:solidFill>
                  <a:srgbClr val="10202F"/>
                </a:solidFill>
              </a:rPr>
              <a:t>판매와 재주문의 관리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4CEB66B-6B00-4934-B807-092A60AD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D3F8C"/>
                </a:solidFill>
              </a:defRPr>
            </a:pPr>
            <a:r>
              <a:rPr sz="2100" b="1">
                <a:solidFill>
                  <a:srgbClr val="7D3F8C"/>
                </a:solidFill>
              </a:rPr>
              <a:t>INEUNA는 다섯 단계를 하나의 해외사업으로 연결합니다</a:t>
            </a:r>
          </a:p>
        </p:txBody>
      </p:sp>
    </p:spTree>
    <p:extLst>
      <p:ext uri="{BB962C8B-B14F-4D97-AF65-F5344CB8AC3E}">
        <p14:creationId xmlns:p14="http://schemas.microsoft.com/office/powerpoint/2010/main" val="1861762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5">
            <a:extLst xmlns:a="http://schemas.openxmlformats.org/drawingml/2006/main">
              <a:ext uri="{FF2B5EF4-FFF2-40B4-BE49-F238E27FC236}">
                <a16:creationId xmlns:a16="http://schemas.microsoft.com/office/drawing/2014/main" id="{C54548E5-B5C4-4D0C-AFB5-D83BA377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B46B"/>
                </a:solidFill>
              </a:defRPr>
            </a:pPr>
            <a:r>
              <a:rPr sz="1125" b="1">
                <a:solidFill>
                  <a:srgbClr val="D9B46B"/>
                </a:solidFill>
              </a:rPr>
              <a:t>05  EXECUTION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2187D13-B9F1-4FCB-90E5-B8016517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좋은 제품이 실제 시장에 도착하게 합니다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3E31CCFA-D382-4BB2-B98F-95DBCE1F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5">
            <a:extLst xmlns:a="http://schemas.openxmlformats.org/drawingml/2006/main">
              <a:ext uri="{FF2B5EF4-FFF2-40B4-BE49-F238E27FC236}">
                <a16:creationId xmlns:a16="http://schemas.microsoft.com/office/drawing/2014/main" id="{4EDE842D-BE71-43BB-852D-25C64B27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0CA"/>
                </a:solidFill>
              </a:defRPr>
            </a:pPr>
            <a:r>
              <a:rPr sz="825" b="1">
                <a:solidFill>
                  <a:srgbClr val="B7C0CA"/>
                </a:solidFill>
              </a:rPr>
              <a:t>INEUNA COMPANY PROFILE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38954F71-FD4E-46EA-963E-9C10450C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0CA"/>
                </a:solidFill>
              </a:defRPr>
            </a:pPr>
            <a:r>
              <a:rPr sz="825" b="0">
                <a:solidFill>
                  <a:srgbClr val="B7C0CA"/>
                </a:solidFill>
              </a:rPr>
              <a:t>5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22bf251e44bb0"/>
          <a:stretch xmlns:a="http://schemas.openxmlformats.org/drawingml/2006/main"/>
        </p:blipFill>
        <p:spPr>
          <a:xfrm xmlns:a="http://schemas.openxmlformats.org/drawingml/2006/main">
            <a:off x="1108322" y="1952625"/>
            <a:ext cx="3155457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5E2024AB-31A8-4742-B035-795A27E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00250"/>
            <a:ext cx="533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73A"/>
          </a:solidFill>
          <a:ln xmlns:a="http://schemas.openxmlformats.org/drawingml/2006/main" w="9525">
            <a:solidFill>
              <a:srgbClr val="294158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10D4878-4FF8-4516-8C8E-7448A1BC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859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B46B"/>
                </a:solidFill>
              </a:defRPr>
            </a:pPr>
            <a:r>
              <a:rPr sz="1875" b="1">
                <a:solidFill>
                  <a:srgbClr val="D9B46B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4493E2-65D7-453B-8A96-8123D7DA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859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시장·가격 검증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DF325E7A-1841-46D0-9B6B-D22EE7A4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09875"/>
            <a:ext cx="533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73A"/>
          </a:solidFill>
          <a:ln xmlns:a="http://schemas.openxmlformats.org/drawingml/2006/main" w="9525">
            <a:solidFill>
              <a:srgbClr val="294158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B0C5BDC-3C76-48DF-B96A-C229AC67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B46B"/>
                </a:solidFill>
              </a:defRPr>
            </a:pPr>
            <a:r>
              <a:rPr sz="1875" b="1">
                <a:solidFill>
                  <a:srgbClr val="D9B46B"/>
                </a:solidFill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B810C5-32A6-4C9C-9E5C-0E92A68C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956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현지 파트너·인증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635C8C3-59A6-4F76-A01D-9976F2EB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19500"/>
            <a:ext cx="533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73A"/>
          </a:solidFill>
          <a:ln xmlns:a="http://schemas.openxmlformats.org/drawingml/2006/main" w="9525">
            <a:solidFill>
              <a:srgbClr val="294158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6FA75EF-E102-4C6C-ADEA-344A601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052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B46B"/>
                </a:solidFill>
              </a:defRPr>
            </a:pPr>
            <a:r>
              <a:rPr sz="1875" b="1">
                <a:solidFill>
                  <a:srgbClr val="D9B46B"/>
                </a:solidFill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CBD451C-20D5-405C-9951-62157E29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052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계약·물류·통관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B6D3CA57-CB5B-4AB8-8A7D-B8DBB8A7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29125"/>
            <a:ext cx="533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73A"/>
          </a:solidFill>
          <a:ln xmlns:a="http://schemas.openxmlformats.org/drawingml/2006/main" w="9525">
            <a:solidFill>
              <a:srgbClr val="29415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1BA78B3-54B6-4A01-A7C2-EC019F33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148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B46B"/>
                </a:solidFill>
              </a:defRPr>
            </a:pPr>
            <a:r>
              <a:rPr sz="1875" b="1">
                <a:solidFill>
                  <a:srgbClr val="D9B46B"/>
                </a:solidFill>
              </a:rPr>
              <a:t>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55CB3A7-FCEB-4EE7-9195-8E1C7470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148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유통·판매·재주문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1BA772F-5C49-4175-A107-7178B71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B46B"/>
                </a:solidFill>
              </a:defRPr>
            </a:pPr>
            <a:r>
              <a:rPr sz="1800" b="1">
                <a:solidFill>
                  <a:srgbClr val="D9B46B"/>
                </a:solidFill>
              </a:rPr>
              <a:t>One Connection · One Execution · Repeatable Growth</a:t>
            </a:r>
          </a:p>
        </p:txBody>
      </p:sp>
    </p:spTree>
    <p:extLst>
      <p:ext uri="{BB962C8B-B14F-4D97-AF65-F5344CB8AC3E}">
        <p14:creationId xmlns:p14="http://schemas.microsoft.com/office/powerpoint/2010/main" val="1573716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6">
            <a:extLst xmlns:a="http://schemas.openxmlformats.org/drawingml/2006/main">
              <a:ext uri="{FF2B5EF4-FFF2-40B4-BE49-F238E27FC236}">
                <a16:creationId xmlns:a16="http://schemas.microsoft.com/office/drawing/2014/main" id="{C742E81F-BDCB-4BE6-B7D4-8E359CDD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3F8C"/>
                </a:solidFill>
              </a:defRPr>
            </a:pPr>
            <a:r>
              <a:rPr sz="1125" b="1">
                <a:solidFill>
                  <a:srgbClr val="7D3F8C"/>
                </a:solidFill>
              </a:rPr>
              <a:t>06  GLOBAL MARKETS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44DCD59-BA24-49B4-A865-E141F0DD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F"/>
                </a:solidFill>
              </a:defRPr>
            </a:pPr>
            <a:r>
              <a:rPr sz="2850" b="1">
                <a:solidFill>
                  <a:srgbClr val="10202F"/>
                </a:solidFill>
              </a:rPr>
              <a:t>시장마다 다른 진입전략을 설계합니다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14EC0F05-551D-45F2-B106-C417C89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6">
            <a:extLst xmlns:a="http://schemas.openxmlformats.org/drawingml/2006/main">
              <a:ext uri="{FF2B5EF4-FFF2-40B4-BE49-F238E27FC236}">
                <a16:creationId xmlns:a16="http://schemas.microsoft.com/office/drawing/2014/main" id="{1D37DD98-726C-4840-984A-0FCA9A46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INEUNA COMPANY PROFILE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178BB03B-AF28-48D4-A464-B0B823F3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9C364D3F-A391-4C50-9CB0-86058285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2571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FD32A85-0FDF-4E0E-A250-C99C5064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18C86"/>
                </a:solidFill>
              </a:defRPr>
            </a:pPr>
            <a:r>
              <a:rPr sz="2025" b="1">
                <a:solidFill>
                  <a:srgbClr val="318C86"/>
                </a:solidFill>
              </a:rPr>
              <a:t>AFRICA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7B19758-BF16-4D2D-B26B-EB9CC52D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케냐 인증절차와</a:t>
            </a:r>
          </a:p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동아프리카 유통망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060774B4-279C-43E1-81AF-E84D3CDC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381250" cy="2571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86070DC-A559-435E-8D52-C0E973C8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D3F8C"/>
                </a:solidFill>
              </a:defRPr>
            </a:pPr>
            <a:r>
              <a:rPr sz="2025" b="1">
                <a:solidFill>
                  <a:srgbClr val="7D3F8C"/>
                </a:solidFill>
              </a:rPr>
              <a:t>MEXICO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802B08A-0877-40FC-B936-A87EDDD4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908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한·멕 교류를 통한</a:t>
            </a:r>
          </a:p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파트너 발굴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7975470-5C7B-452D-8B43-A8AE73DD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381250" cy="2571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AEAFA82-A15B-44C3-8292-9D8707C3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18C86"/>
                </a:solidFill>
              </a:defRPr>
            </a:pPr>
            <a:r>
              <a:rPr sz="2025" b="1">
                <a:solidFill>
                  <a:srgbClr val="318C86"/>
                </a:solidFill>
              </a:rPr>
              <a:t>USA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6124AD4-2DB1-41AA-A90F-34AE9658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908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기존 협력경험과</a:t>
            </a:r>
          </a:p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시장확장 가능성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205040E5-EFAC-4338-9773-BE2A9C2B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381250" cy="2571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E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369770-022E-41BF-9221-C2EB64F4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D3F8C"/>
                </a:solidFill>
              </a:defRPr>
            </a:pPr>
            <a:r>
              <a:rPr sz="2025" b="1">
                <a:solidFill>
                  <a:srgbClr val="7D3F8C"/>
                </a:solidFill>
              </a:rPr>
              <a:t>ASIA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ACAF3C7-DE92-4CEF-87A6-58B2ADA0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908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중국 네트워크와</a:t>
            </a:r>
          </a:p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아시아 시장 연계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A96EFAD-74D3-47D9-96B4-52B4AD41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D3F8C"/>
                </a:solidFill>
              </a:defRPr>
            </a:pPr>
            <a:r>
              <a:rPr sz="1950" b="1">
                <a:solidFill>
                  <a:srgbClr val="7D3F8C"/>
                </a:solidFill>
              </a:rPr>
              <a:t>진행시장과 개발시장을 구분하고, 검증된 단계부터 확장합니다</a:t>
            </a:r>
          </a:p>
        </p:txBody>
      </p:sp>
    </p:spTree>
    <p:extLst>
      <p:ext uri="{BB962C8B-B14F-4D97-AF65-F5344CB8AC3E}">
        <p14:creationId xmlns:p14="http://schemas.microsoft.com/office/powerpoint/2010/main" val="802993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7">
            <a:extLst xmlns:a="http://schemas.openxmlformats.org/drawingml/2006/main">
              <a:ext uri="{FF2B5EF4-FFF2-40B4-BE49-F238E27FC236}">
                <a16:creationId xmlns:a16="http://schemas.microsoft.com/office/drawing/2014/main" id="{539F5137-CFA7-4814-92F6-35312A13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3F8C"/>
                </a:solidFill>
              </a:defRPr>
            </a:pPr>
            <a:r>
              <a:rPr sz="1125" b="1">
                <a:solidFill>
                  <a:srgbClr val="7D3F8C"/>
                </a:solidFill>
              </a:rPr>
              <a:t>07  TRADE PLATFORM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7FC119F-A113-4EEB-A68C-A883A0B3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02F"/>
                </a:solidFill>
              </a:defRPr>
            </a:pPr>
            <a:r>
              <a:rPr sz="2850" b="1">
                <a:solidFill>
                  <a:srgbClr val="10202F"/>
                </a:solidFill>
              </a:rPr>
              <a:t>다양한 사업경험이 무역 실행력을 강화합니다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CBF1D7C1-1AC2-497F-B9A9-F015D081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3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7">
            <a:extLst xmlns:a="http://schemas.openxmlformats.org/drawingml/2006/main">
              <a:ext uri="{FF2B5EF4-FFF2-40B4-BE49-F238E27FC236}">
                <a16:creationId xmlns:a16="http://schemas.microsoft.com/office/drawing/2014/main" id="{94067539-D7BD-4069-A839-18B5431A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INEUNA COMPANY PROFILE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7E609E53-A8AA-4460-AC8B-0E55C193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6" name="surface">
            <a:extLst xmlns:a="http://schemas.openxmlformats.org/drawingml/2006/main">
              <a:ext uri="{FF2B5EF4-FFF2-40B4-BE49-F238E27FC236}">
                <a16:creationId xmlns:a16="http://schemas.microsoft.com/office/drawing/2014/main" id="{484DCF7F-4FDE-4535-939E-288DD7E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286000" cy="2381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E8F4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9934675-0750-48D8-BE66-AFB00A5E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D3F8C"/>
                </a:solidFill>
              </a:defRPr>
            </a:pPr>
            <a:r>
              <a:rPr sz="1800" b="1">
                <a:solidFill>
                  <a:srgbClr val="7D3F8C"/>
                </a:solidFill>
              </a:rPr>
              <a:t>K-BEAUTY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CFAD1B0-1E37-4784-BEEE-E7E817EF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화장품 해외시장</a:t>
            </a:r>
          </a:p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개발·유통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CA0C8A14-C7BE-49BD-AA72-40E95D74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286000" cy="2381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D071A77-0ADD-4473-8148-43EC286D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8C86"/>
                </a:solidFill>
              </a:defRPr>
            </a:pPr>
            <a:r>
              <a:rPr sz="1800" b="1">
                <a:solidFill>
                  <a:srgbClr val="318C86"/>
                </a:solidFill>
              </a:rPr>
              <a:t>COFFEE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ED9EF01-1DC2-4427-BD1C-BADE3D42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아프리카 생두</a:t>
            </a:r>
          </a:p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소싱·수입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890AD686-27E4-49C5-A8EA-41849E8B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286000" cy="2381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FB73229-8A06-4850-9F73-083574F8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288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8C86"/>
                </a:solidFill>
              </a:defRPr>
            </a:pPr>
            <a:r>
              <a:rPr sz="1800" b="1">
                <a:solidFill>
                  <a:srgbClr val="318C86"/>
                </a:solidFill>
              </a:rPr>
              <a:t>STEEL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CB7972D-1BF7-4218-926D-7DA1DEB2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철강·건설자재</a:t>
            </a:r>
          </a:p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공급·무역</a:t>
            </a:r>
          </a:p>
        </p:txBody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5EB256AD-614B-42A8-94F0-C004105D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86000" cy="23812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D6DCE2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49BFFF9-920C-40D2-B1C5-1B85CFD4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2887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8C86"/>
                </a:solidFill>
              </a:defRPr>
            </a:pPr>
            <a:r>
              <a:rPr sz="1800" b="1">
                <a:solidFill>
                  <a:srgbClr val="318C86"/>
                </a:solidFill>
              </a:rPr>
              <a:t>RENEWABLE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715A693-8DF7-47AF-9F3C-49EE9F03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38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태양광·RE100</a:t>
            </a:r>
          </a:p>
          <a:p xmlns:a="http://schemas.openxmlformats.org/drawingml/2006/main">
            <a:pPr algn="ctr">
              <a:defRPr sz="1500" b="1">
                <a:solidFill>
                  <a:srgbClr val="10202F"/>
                </a:solidFill>
              </a:defRPr>
            </a:pPr>
            <a:r>
              <a:rPr sz="1500" b="1">
                <a:solidFill>
                  <a:srgbClr val="10202F"/>
                </a:solidFill>
              </a:rPr>
              <a:t>프로젝트 연계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AC9F5E7-74C4-4E58-B2D1-35023101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D3F8C"/>
                </a:solidFill>
              </a:defRPr>
            </a:pPr>
            <a:r>
              <a:rPr sz="1950" b="1">
                <a:solidFill>
                  <a:srgbClr val="7D3F8C"/>
                </a:solidFill>
              </a:rPr>
              <a:t>사업은 다르지만 파트너·계약·물류·신뢰의 원리는 같습니다</a:t>
            </a:r>
          </a:p>
        </p:txBody>
      </p:sp>
    </p:spTree>
    <p:extLst>
      <p:ext uri="{BB962C8B-B14F-4D97-AF65-F5344CB8AC3E}">
        <p14:creationId xmlns:p14="http://schemas.microsoft.com/office/powerpoint/2010/main" val="290337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8">
            <a:extLst xmlns:a="http://schemas.openxmlformats.org/drawingml/2006/main">
              <a:ext uri="{FF2B5EF4-FFF2-40B4-BE49-F238E27FC236}">
                <a16:creationId xmlns:a16="http://schemas.microsoft.com/office/drawing/2014/main" id="{1959CDA5-113F-4E3E-85EF-E12FB42D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B46B"/>
                </a:solidFill>
              </a:defRPr>
            </a:pPr>
            <a:r>
              <a:rPr sz="1125" b="1">
                <a:solidFill>
                  <a:srgbClr val="D9B46B"/>
                </a:solidFill>
              </a:rPr>
              <a:t>08  PARTNERSHIP PROPOSAL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7D6F405-1343-48C5-9C53-1FDAAA2A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함께 만들고 함께 성장하는 K-Beauty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481A4ADF-1B9F-417F-967D-D4A6043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8">
            <a:extLst xmlns:a="http://schemas.openxmlformats.org/drawingml/2006/main">
              <a:ext uri="{FF2B5EF4-FFF2-40B4-BE49-F238E27FC236}">
                <a16:creationId xmlns:a16="http://schemas.microsoft.com/office/drawing/2014/main" id="{1CF6A2F5-41D9-4944-B7E8-164A5EF9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0CA"/>
                </a:solidFill>
              </a:defRPr>
            </a:pPr>
            <a:r>
              <a:rPr sz="825" b="1">
                <a:solidFill>
                  <a:srgbClr val="B7C0CA"/>
                </a:solidFill>
              </a:rPr>
              <a:t>INEUNA × IMSHINE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8454EB05-E1F1-4491-92C0-1BDC276E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0CA"/>
                </a:solidFill>
              </a:defRPr>
            </a:pPr>
            <a:r>
              <a:rPr sz="825" b="0">
                <a:solidFill>
                  <a:srgbClr val="B7C0CA"/>
                </a:solidFill>
              </a:rPr>
              <a:t>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b3e5fad454b83"/>
          <a:srcRect xmlns:a="http://schemas.openxmlformats.org/drawingml/2006/main" l="6055" t="0" r="60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4762500" cy="30480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6B9DB0-E7ED-42FE-BEF2-17A927CC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B46B"/>
                </a:solidFill>
              </a:defRPr>
            </a:pPr>
            <a:r>
              <a:rPr sz="2100" b="1">
                <a:solidFill>
                  <a:srgbClr val="D9B46B"/>
                </a:solidFill>
              </a:rPr>
              <a:t>IMSHINE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8FA2D98-94F6-46EC-B15D-B2F2A8F1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제품 · 연구 · 제조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419E080-A897-4E42-B0C3-7207AAB8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B46B"/>
                </a:solidFill>
              </a:defRPr>
            </a:pPr>
            <a:r>
              <a:rPr sz="2100" b="1">
                <a:solidFill>
                  <a:srgbClr val="D9B46B"/>
                </a:solidFill>
              </a:rPr>
              <a:t>＋  INEUNA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AAFB43D-BCCB-4517-BF1C-C9328005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시장 · 파트너 · 무역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EBEC34F-AD5A-4912-B5B2-00D8D770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38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B46B"/>
                </a:solidFill>
              </a:defRPr>
            </a:pPr>
            <a:r>
              <a:rPr sz="2100" b="1">
                <a:solidFill>
                  <a:srgbClr val="D9B46B"/>
                </a:solidFill>
              </a:rPr>
              <a:t>＝ GLOBAL K-BEAUTY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597246C-E144-4B29-A299-CC2E1C38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제품소개를 넘어 현지에서 선택받고 반복 거래되는 사업으로</a:t>
            </a:r>
          </a:p>
        </p:txBody>
      </p:sp>
    </p:spTree>
    <p:extLst>
      <p:ext uri="{BB962C8B-B14F-4D97-AF65-F5344CB8AC3E}">
        <p14:creationId xmlns:p14="http://schemas.microsoft.com/office/powerpoint/2010/main" val="1792964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2026-09-07T03:10:40.6750000Z</dcterms:created>
  <dcterms:modified xsi:type="dcterms:W3CDTF">2026-09-07T03:10:40.6750000Z</dcterms:modified>
</coreProperties>
</file>